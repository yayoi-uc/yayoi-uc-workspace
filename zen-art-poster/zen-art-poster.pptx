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390" y="0"/>
            <a:ext cx="6095390" cy="68580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  <a:br/>
            <a:r>
              <a:t>kakejiku in minimal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ZEN ART POSTER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0">
                <a:solidFill>
                  <a:srgbClr val="2C2C2C"/>
                </a:solidFill>
                <a:latin typeface="Helvetica Neue"/>
              </a:defRPr>
            </a:pPr>
            <a:r>
              <a:t>A Portable Window</a:t>
            </a:r>
            <a:br/>
            <a:r>
              <a:t>of Zen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657600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禅を持ち運ぶ、小さな窓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19456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F5F0E8"/>
                </a:solidFill>
                <a:latin typeface="Helvetica Neue"/>
              </a:defRPr>
            </a:pPr>
            <a:r>
              <a:t>"I changed the scroll for New Year's,"</a:t>
            </a:r>
            <a:br/>
            <a:r>
              <a:t>my mother said.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0" y="3474720"/>
            <a:ext cx="822960" cy="12700"/>
          </a:xfrm>
          <a:prstGeom prst="rect">
            <a:avLst/>
          </a:prstGeom>
          <a:solidFill>
            <a:srgbClr val="6B6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5B0A8"/>
                </a:solidFill>
                <a:latin typeface="Helvetica Neue"/>
              </a:defRPr>
            </a:pPr>
            <a:r>
              <a:t>「正月用に掛け軸変えたよ」</a:t>
            </a:r>
            <a:br/>
            <a:r>
              <a:t>母がさりげなく言った。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  <a:br/>
            <a:r>
              <a:t>tokonoma / tea cabinet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371600"/>
            <a:ext cx="47548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B6560"/>
                </a:solidFill>
                <a:latin typeface="Helvetica Neue"/>
              </a:defRPr>
            </a:pPr>
            <a:r>
              <a:t>The scroll had always been there.</a:t>
            </a:r>
            <a:br/>
            <a:r>
              <a:t>But I never noticed it changed</a:t>
            </a:r>
            <a:br/>
            <a:r>
              <a:t>with each season.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651760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床の間の掛け軸はいつもそこにあった。</a:t>
            </a:r>
            <a:br/>
            <a:r>
              <a:t>けれど季節ごとに変わっていたことには</a:t>
            </a:r>
            <a:br/>
            <a:r>
              <a:t>気づかなかった。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3749039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402336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C2C2C"/>
                </a:solidFill>
                <a:latin typeface="Helvetica Neue"/>
              </a:defRPr>
            </a:pPr>
            <a:r>
              <a:t>Portable. Storable. Interchangeable.</a:t>
            </a:r>
            <a:br/>
            <a:r>
              <a:t>Perhaps the most minimal art in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93776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持ち運べて、収納できて、交換できる。</a:t>
            </a:r>
            <a:br/>
            <a:r>
              <a:t>世界でもっともミニマルなアート。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66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0">
                <a:solidFill>
                  <a:srgbClr val="2C2C2C"/>
                </a:solidFill>
                <a:latin typeface="Helvetica Neue"/>
              </a:defRPr>
            </a:pPr>
            <a:r>
              <a:t>The World's Only Interchangeable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世界で唯一の「交換型アート」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21031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5B0A8"/>
                          </a:solidFill>
                          <a:latin typeface="Helvetica Neue"/>
                        </a:defRPr>
                      </a:pPr>
                      <a:r>
                        <a:t>Western Art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5B0A8"/>
                          </a:solidFill>
                          <a:latin typeface="Helvetica Neue"/>
                        </a:defRPr>
                      </a:pPr>
                      <a:r>
                        <a:t>Kakejiku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C2C2C"/>
                          </a:solidFill>
                          <a:latin typeface="Helvetica Neue"/>
                        </a:defRPr>
                      </a:pPr>
                      <a:r>
                        <a:t>Fixed on the wall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C2C2C"/>
                          </a:solidFill>
                          <a:latin typeface="Helvetica Neue"/>
                        </a:defRPr>
                      </a:pPr>
                      <a:r>
                        <a:t>Changed with the seasons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C2C2C"/>
                          </a:solidFill>
                          <a:latin typeface="Helvetica Neue"/>
                        </a:defRPr>
                      </a:pPr>
                      <a:r>
                        <a:t>Heavy frame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C2C2C"/>
                          </a:solidFill>
                          <a:latin typeface="Helvetica Neue"/>
                        </a:defRPr>
                      </a:pPr>
                      <a:r>
                        <a:t>Rolls up, stores in a box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C2C2C"/>
                          </a:solidFill>
                          <a:latin typeface="Helvetica Neue"/>
                        </a:defRPr>
                      </a:pPr>
                      <a:r>
                        <a:t>One piece, one space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C2C2C"/>
                          </a:solidFill>
                          <a:latin typeface="Helvetica Neue"/>
                        </a:defRPr>
                      </a:pPr>
                      <a:r>
                        <a:t>Many pieces, one space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C2C2C"/>
                          </a:solidFill>
                          <a:latin typeface="Helvetica Neue"/>
                        </a:defRPr>
                      </a:pPr>
                      <a:r>
                        <a:t>Decorative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C2C2C"/>
                          </a:solidFill>
                          <a:latin typeface="Helvetica Neue"/>
                        </a:defRPr>
                      </a:pPr>
                      <a:r>
                        <a:t>Intentional — chosen for the moment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97280" y="5029200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B6560"/>
                </a:solidFill>
                <a:latin typeface="Helvetica Neue"/>
              </a:defRPr>
            </a:pPr>
            <a:r>
              <a:t>Born from tea ceremony and Zen culture.</a:t>
            </a:r>
            <a:br/>
            <a:r>
              <a:t>Now reimagined for contemporary living.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茶道と禅の文化から生まれた。いま、現代の暮らしのために再定義する。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390" y="0"/>
            <a:ext cx="6095390" cy="68580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  <a:br/>
            <a:r>
              <a:t>seasonal kakejiku in living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Bring Seasons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家に四季を持ち込む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651760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Through the traditional Japanese format of kakejiku</a:t>
            </a:r>
            <a:br/>
            <a:r>
              <a:t>and the works of artists around the world,</a:t>
            </a:r>
            <a:br/>
            <a:r>
              <a:t>we bring seasons and stillness into the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掛け軸という日本の伝統フォーマットを使い、</a:t>
            </a:r>
            <a:br/>
            <a:r>
              <a:t>世界のアーティストの作品を通して</a:t>
            </a:r>
            <a:br/>
            <a:r>
              <a:t>「四季」と「静けさ」を家の中に持ち込む。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A kakejiku is not just art —</a:t>
            </a:r>
            <a:br/>
            <a:r>
              <a:t>it is a small window to feel nature and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掛け軸は単なるアートではなく、</a:t>
            </a:r>
            <a:br/>
            <a:r>
              <a:t>自然や時間を感じるための小さな窓。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6560"/>
                </a:solidFill>
                <a:latin typeface="Helvetica Neue"/>
              </a:defRPr>
            </a:pPr>
            <a:r>
              <a:t>WORLDVIEW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F5F0E8"/>
                </a:solidFill>
                <a:latin typeface="Helvetica Neue"/>
              </a:defRPr>
            </a:pPr>
            <a:r>
              <a:t>Japanese Format</a:t>
            </a:r>
            <a:br/>
            <a:r>
              <a:t>×</a:t>
            </a:r>
            <a:br/>
            <a:r>
              <a:t>Global Artists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560320"/>
            <a:ext cx="1188720" cy="12700"/>
          </a:xfrm>
          <a:prstGeom prst="rect">
            <a:avLst/>
          </a:prstGeom>
          <a:solidFill>
            <a:srgbClr val="6B6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47548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B5B0A8"/>
                </a:solidFill>
                <a:latin typeface="Helvetica Neue"/>
              </a:defRPr>
            </a:pPr>
            <a:r>
              <a:t>Modern living spaces are minimal and global,</a:t>
            </a:r>
            <a:br/>
            <a:r>
              <a:t>yet the culture of feeling seasons at home</a:t>
            </a:r>
            <a:br/>
            <a:r>
              <a:t>has almost disappeared.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現代の住空間はミニマルでグローバル化している一方、</a:t>
            </a:r>
            <a:br/>
            <a:r>
              <a:t>家の中で季節を感じる文化はほとんど消えている。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017520"/>
            <a:ext cx="47548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B5B0A8"/>
                </a:solidFill>
                <a:latin typeface="Helvetica Neue"/>
              </a:defRPr>
            </a:pPr>
            <a:r>
              <a:t>Japan has a culture of changing art with the seasons.</a:t>
            </a:r>
            <a:br/>
            <a:r>
              <a:t>We open this traditional format to artists worldwide</a:t>
            </a:r>
            <a:br/>
            <a:r>
              <a:t>— building a new art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1480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日本には「季節ごとにアートを変える文化」がある。</a:t>
            </a:r>
            <a:br/>
            <a:r>
              <a:t>この伝統的フォーマットを世界のアーティストに開放し、</a:t>
            </a:r>
            <a:br/>
            <a:r>
              <a:t>新しいアートカテゴリーとして展開する。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5F0E8"/>
                </a:solidFill>
                <a:latin typeface="Helvetica Neue"/>
              </a:defRPr>
            </a:pPr>
            <a:r>
              <a:t>Like Spotify for your walls — change art with the seasons.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Spotifyのように、空間のアートを季節で変える体験。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66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0">
                <a:solidFill>
                  <a:srgbClr val="2C2C2C"/>
                </a:solidFill>
                <a:latin typeface="Helvetica Neue"/>
              </a:defRPr>
            </a:pPr>
            <a: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25880"/>
            <a:ext cx="996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zen art poster が提案すること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3108960" cy="347472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377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7432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C2C2C"/>
                </a:solidFill>
                <a:latin typeface="Helvetica Neue"/>
              </a:defRPr>
            </a:pPr>
            <a:r>
              <a:t>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29184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Curated vintage kakejiku</a:t>
            </a:r>
            <a:br/>
            <a:r>
              <a:t>for the Western interior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297680"/>
            <a:ext cx="2468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欧米インテリアに合う</a:t>
            </a:r>
            <a:br/>
            <a:r>
              <a:t>ヴィンテージ掛け軸のキュレーション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103120"/>
            <a:ext cx="3108960" cy="347472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377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7432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C2C2C"/>
                </a:solidFill>
                <a:latin typeface="Helvetica Neue"/>
              </a:defRPr>
            </a:pPr>
            <a:r>
              <a:t>Artist Collab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9184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Global artists paint on</a:t>
            </a:r>
            <a:br/>
            <a:r>
              <a:t>the kakejiku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297680"/>
            <a:ext cx="2468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世界のアーティストが</a:t>
            </a:r>
            <a:br/>
            <a:r>
              <a:t>掛け軸フォーマットに描く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103120"/>
            <a:ext cx="3108960" cy="347472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432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C2C2C"/>
                </a:solidFill>
                <a:latin typeface="Helvetica Neue"/>
              </a:defRPr>
            </a:pPr>
            <a:r>
              <a:t>Original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9184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New canvases from upcycled</a:t>
            </a:r>
            <a:br/>
            <a:r>
              <a:t>Japanese craft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297680"/>
            <a:ext cx="2468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アップサイクル素材による</a:t>
            </a:r>
            <a:br/>
            <a:r>
              <a:t>新しいキャンバスの開発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390" y="0"/>
            <a:ext cx="6095390" cy="68580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  <a:br/>
            <a:r>
              <a:t>material flat-lay / swatches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REBONE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Giving Forgotten Materials</a:t>
            </a:r>
            <a:br/>
            <a:r>
              <a:t>a Second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忘れられた素材に、もう一度命を。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6560"/>
                </a:solidFill>
                <a:latin typeface="Helvetica Neue"/>
              </a:defRPr>
            </a:pPr>
            <a:r>
              <a:t>Okayama Denim  |  Kimono Hagire  |  Kokura-ori</a:t>
            </a:r>
            <a:br/>
            <a:r>
              <a:t>Handmade Washi  |  PVC  |  Tracing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岡山デニム端材 / 着物はぎれ / 小倉織端切れ / 手漉き和紙 / PVC / トレーシングペーパー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  <a:br/>
            <a:r>
              <a:t>washi texture / making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7315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09728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2C2C2C"/>
                </a:solidFill>
                <a:latin typeface="Helvetica Neue"/>
              </a:defRPr>
            </a:pPr>
            <a:r>
              <a:t>Washi: A Canvas That</a:t>
            </a:r>
            <a:br/>
            <a:r>
              <a:t>Lasts Centuries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9202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何百年も生き続けるキャンバス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5603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Long fibers create a unique bleeding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834639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長い繊維が生む滲みはアーティストに愛される表現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46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No chemical dyes — colors never fade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520439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化学染料不使用 — 色褪せしない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Each region produces a distinct texture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産地ごとに異なる風合いと個性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6177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Naturally sustainable — kozo, mitsumata, gampi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920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天然由来の持続可能な素材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5394959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623559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EUDR COMPLIANT — FULL TRACEABILITY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ORIGINAL KAKEJIKU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2C2C2C"/>
                </a:solidFill>
                <a:latin typeface="Helvetica Neue"/>
              </a:defRPr>
            </a:pPr>
            <a:r>
              <a:t>A Canvas Artists Want to Create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アーティストが描きたいと思うキャンバスの提案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4754880" cy="219456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CONCEPT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2C2C2C"/>
                </a:solidFill>
                <a:latin typeface="Helvetica Neue"/>
              </a:defRPr>
            </a:pPr>
            <a:r>
              <a:t>Seasonal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A curated set of scrolls designed to be</a:t>
            </a:r>
            <a:br/>
            <a:r>
              <a:t>swapped with the seasons. Art that</a:t>
            </a:r>
            <a:br/>
            <a:r>
              <a:t>lives and breathes.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11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四季に合わせて掛け替えるセット。</a:t>
            </a:r>
            <a:br/>
            <a:r>
              <a:t>生きて呼吸するアート体験。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011680"/>
            <a:ext cx="4754880" cy="219456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CONCEPT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2C2C2C"/>
                </a:solidFill>
                <a:latin typeface="Helvetica Neue"/>
              </a:defRPr>
            </a:pPr>
            <a:r>
              <a:t>Upcycled Heritage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Forgotten craft materials — kimono,</a:t>
            </a:r>
            <a:br/>
            <a:r>
              <a:t>denim, kokura-ori — reborn as canvases</a:t>
            </a:r>
            <a:br/>
            <a:r>
              <a:t>that carry Japanese stories.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忘れられた日本の素材を蘇らせ、</a:t>
            </a:r>
            <a:br/>
            <a:r>
              <a:t>物語を纏うキャンバスに。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480560"/>
            <a:ext cx="4754880" cy="219456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6634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CONCEPT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37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2C2C2C"/>
                </a:solidFill>
                <a:latin typeface="Helvetica Neue"/>
              </a:defRPr>
            </a:pPr>
            <a:r>
              <a:t>Washi as Living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9496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Echizen handmade washi — colors never</a:t>
            </a:r>
            <a:br/>
            <a:r>
              <a:t>fade, fibers create organic bleeding.</a:t>
            </a:r>
            <a:br/>
            <a:r>
              <a:t>A canvas that ages beautifully.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807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越前手漉き和紙 — 色褪せず、</a:t>
            </a:r>
            <a:br/>
            <a:r>
              <a:t>何百年も美しく経年変化するキャンバス。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480560"/>
            <a:ext cx="4754880" cy="219456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CONCEPT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2C2C2C"/>
                </a:solidFill>
                <a:latin typeface="Helvetica Neue"/>
              </a:defRPr>
            </a:pPr>
            <a:r>
              <a:t>New Material Frontier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PVC, tracing paper, translucent layers —</a:t>
            </a:r>
            <a:br/>
            <a:r>
              <a:t>pushing the scroll format into contemporary</a:t>
            </a:r>
            <a:br/>
            <a:r>
              <a:t>art, photography, and graphic design.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0807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PVC・トレーシングペーパーで</a:t>
            </a:r>
            <a:br/>
            <a:r>
              <a:t>掛け軸を現代アートの領域へ拡張。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390" y="0"/>
            <a:ext cx="6095390" cy="68580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  <a:br/>
            <a:r>
              <a:t>artist working on scroll /</a:t>
            </a:r>
            <a:br/>
            <a:r>
              <a:t>scroll in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FOR ARTISTS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A New Canvas</a:t>
            </a:r>
            <a:br/>
            <a:r>
              <a:t>for Your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あなたのアートに、新しいキャンバスを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651760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Paint, draw, print, photograph</a:t>
            </a:r>
            <a:br/>
            <a:r>
              <a:t>— on washi, denim, fabric, or PVC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Your work becomes a rollable,</a:t>
            </a:r>
            <a:br/>
            <a:r>
              <a:t>portable, collectible piece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Exhibit and sell through our platform</a:t>
            </a:r>
            <a:br/>
            <a:r>
              <a:t>and pop-up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5029200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B4C7E"/>
                </a:solidFill>
                <a:latin typeface="Helvetica Neue"/>
              </a:defRPr>
            </a:pPr>
            <a:r>
              <a:t>We provide the canvas.</a:t>
            </a:r>
            <a:br/>
            <a:r>
              <a:t>You bring the 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8978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キャンバスは私たちが。アートはあなたが。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2C2C2C"/>
                </a:solidFill>
                <a:latin typeface="Helvetica Neue"/>
              </a:defRPr>
            </a:pPr>
            <a:r>
              <a:t>Partners We Seek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探しているパートナー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3108960" cy="41148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B4C7E"/>
                </a:solidFill>
                <a:latin typeface="Helvetica Neue"/>
              </a:defRPr>
            </a:pPr>
            <a:r>
              <a:t>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Manufacturing &amp;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2560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Washi production (traceable, EUDR-ready)</a:t>
            </a:r>
            <a:br/>
            <a:r>
              <a:t>Textile sourcing (kimono, denim, kokura-ori)</a:t>
            </a:r>
            <a:br/>
            <a:r>
              <a:t>Scroll mounting &amp; assembly</a:t>
            </a:r>
            <a:br/>
            <a:r>
              <a:t>Hardware (bamboo, reclaimed wood)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5B0A8"/>
                </a:solidFill>
                <a:latin typeface="Helvetica Neue"/>
              </a:defRPr>
            </a:pPr>
            <a:r>
              <a:t>和紙製造 / 生地調達 / 表装・組立 / 棒材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011680"/>
            <a:ext cx="3108960" cy="41148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4028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B4C7E"/>
                </a:solidFill>
                <a:latin typeface="Helvetica Neue"/>
              </a:defRPr>
            </a:pPr>
            <a:r>
              <a:t>EURO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Distribution &amp;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08960"/>
            <a:ext cx="2560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Logistics &amp; warehousing (Amsterdam hub)</a:t>
            </a:r>
            <a:br/>
            <a:r>
              <a:t>Gallery &amp; showroom partnerships</a:t>
            </a:r>
            <a:br/>
            <a:r>
              <a:t>Artist network &amp; collaborations</a:t>
            </a:r>
            <a:br/>
            <a:r>
              <a:t>EUDR compliance &amp; import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52120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5B0A8"/>
                </a:solidFill>
                <a:latin typeface="Helvetica Neue"/>
              </a:defRPr>
            </a:pPr>
            <a:r>
              <a:t>物流 / ギャラリー提携 / アーティスト / EUDR対応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011680"/>
            <a:ext cx="3108960" cy="41148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B4C7E"/>
                </a:solidFill>
                <a:latin typeface="Helvetica Neue"/>
              </a:defRPr>
            </a:pPr>
            <a:r>
              <a:t>LONDON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Brand &amp; Creative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2560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Brand storytelling &amp; content creation</a:t>
            </a:r>
            <a:br/>
            <a:r>
              <a:t>Pop-up events &amp; tea ceremony</a:t>
            </a:r>
            <a:br/>
            <a:r>
              <a:t>Photography &amp; studio partnerships</a:t>
            </a:r>
            <a:br/>
            <a:r>
              <a:t>UK market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2120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5B0A8"/>
                </a:solidFill>
                <a:latin typeface="Helvetica Neue"/>
              </a:defRPr>
            </a:pPr>
            <a:r>
              <a:t>ブランド発信 / イベント / 撮影 / UK市場開拓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66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0">
                <a:solidFill>
                  <a:srgbClr val="C8BFA9"/>
                </a:solidFill>
                <a:latin typeface="Helvetica Neue"/>
              </a:defRPr>
            </a:pPr>
            <a: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Development 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01952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Original kakejiku R&amp;D. Material sourcing &amp; manufacturer partnerships.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402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オリジナル掛け軸の研究開発。素材調達と製造パートナーの開拓。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0">
                <a:solidFill>
                  <a:srgbClr val="C8BFA9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Market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36391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Curated vintage sales on eBay. Studio photography in European interiors. Owned media launch.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747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セレクト掛け軸のeBay販売、欧米インテリアでの撮影、オウンドメディア立ち上げ。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0">
                <a:solidFill>
                  <a:srgbClr val="C8BFA9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233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Artist Collaboration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70832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First collabs with Europe-based artists. Pop-up exhibitions in London &amp; Amsterdam.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0916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欧州アーティストとの初コラボ。ロンドン・アムステルダムでポップアップ展示。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0">
                <a:solidFill>
                  <a:srgbClr val="C8BFA9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605272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Showroom &amp; experience space. Subscription model. Tea ceremony events &amp; community.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ショールーム展開。サブスクリプション。お茶会イベントとコミュニティ。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66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914400" cy="9144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2C2C2C"/>
                </a:solidFill>
                <a:latin typeface="Helvetica Neue"/>
              </a:defRPr>
            </a:pPr>
            <a:r>
              <a:t>Yayoi Yanagisawa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B4C7E"/>
                </a:solidFill>
                <a:latin typeface="Helvetica Neue"/>
              </a:defRPr>
            </a:pPr>
            <a:r>
              <a:t>Co-founder — Marketing &amp; Creative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5B0A8"/>
                </a:solidFill>
                <a:latin typeface="Helvetica Neue"/>
              </a:defRPr>
            </a:pPr>
            <a:r>
              <a:t>London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4114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Doshisha Univ. Commerce → Nomura Securities → Founded apparel D2C (acquired by Korean unicorn) → India jewelry D2C → London, marketing &amp; creative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同志社大学商学部→野村證券→アパレルD2C（韓国ユニコーンにバイアウト）→インドD2C→ロンドン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12700" cy="41148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914400" cy="9144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2C2C2C"/>
                </a:solidFill>
                <a:latin typeface="Helvetica Neue"/>
              </a:defRPr>
            </a:pPr>
            <a:r>
              <a:t>Mako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B4C7E"/>
                </a:solidFill>
                <a:latin typeface="Helvetica Neue"/>
              </a:defRPr>
            </a:pPr>
            <a:r>
              <a:t>Co-founder — Finance &amp;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5B0A8"/>
                </a:solidFill>
                <a:latin typeface="Helvetica Neue"/>
              </a:defRPr>
            </a:pPr>
            <a:r>
              <a:t>Amsterdam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39"/>
            <a:ext cx="4114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Doshisha Univ. Commerce → Certified Public Accountant → Independent consultant supporting Japanese companies expanding overseas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4632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同志社大学商学部→会計士→独立、日本企業の海外進出をサポート（アムステルダム拠点）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B6560"/>
                </a:solidFill>
                <a:latin typeface="Helvetica Neue"/>
              </a:defRPr>
            </a:pPr>
            <a:r>
              <a:t>OUR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F5F0E8"/>
                </a:solidFill>
                <a:latin typeface="Helvetica Neue"/>
              </a:defRPr>
            </a:pPr>
            <a:r>
              <a:t>A global art platform</a:t>
            </a:r>
            <a:br/>
            <a:r>
              <a:t>where the world's artists create</a:t>
            </a:r>
            <a:br/>
            <a:r>
              <a:t>on a Japanese format,</a:t>
            </a:r>
            <a:br/>
            <a:r>
              <a:t>and seasons return to modern homes.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4114800"/>
            <a:ext cx="1554480" cy="12700"/>
          </a:xfrm>
          <a:prstGeom prst="rect">
            <a:avLst/>
          </a:prstGeom>
          <a:solidFill>
            <a:srgbClr val="6B6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B5B0A8"/>
                </a:solidFill>
                <a:latin typeface="Helvetica Neue"/>
              </a:defRPr>
            </a:pPr>
            <a:r>
              <a:t>世界のアーティストが日本のフォーマットで創作し、</a:t>
            </a:r>
            <a:br/>
            <a:r>
              <a:t>現代の住空間に四季が戻るプラットフォームを。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9496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F5F0E8"/>
                </a:solidFill>
                <a:latin typeface="Helvetica Neue"/>
              </a:defRPr>
            </a:pPr>
            <a:r>
              <a:t>A Portable Window of Zen.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ZEN ART POSTER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Let's create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一緒につくりましょう。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3840480"/>
            <a:ext cx="118872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B6560"/>
                </a:solidFill>
                <a:latin typeface="Helvetica Neue"/>
              </a:defRPr>
            </a:pPr>
            <a:r>
              <a:t>[email]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B6560"/>
                </a:solidFill>
                <a:latin typeface="Helvetica Neue"/>
              </a:defRPr>
            </a:pPr>
            <a:r>
              <a:t>[website]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B6560"/>
                </a:solidFill>
                <a:latin typeface="Helvetica Neue"/>
              </a:defRPr>
            </a:pPr>
            <a:r>
              <a:t>[Instagram]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SECTION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0">
                <a:solidFill>
                  <a:srgbClr val="2C2C2C"/>
                </a:solidFill>
                <a:latin typeface="Helvetica Neue"/>
              </a:defRPr>
            </a:pPr>
            <a:r>
              <a:t>Title Goes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3566160"/>
            <a:ext cx="118872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日本語サブタイトル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B6560"/>
                </a:solidFill>
                <a:latin typeface="Helvetica Neue"/>
              </a:defRPr>
            </a:pPr>
            <a:r>
              <a:t>SECTION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0">
                <a:solidFill>
                  <a:srgbClr val="F5F0E8"/>
                </a:solidFill>
                <a:latin typeface="Helvetica Neue"/>
              </a:defRPr>
            </a:pPr>
            <a:r>
              <a:t>Title Goes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3566160"/>
            <a:ext cx="118872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B5B0A8"/>
                </a:solidFill>
                <a:latin typeface="Helvetica Neue"/>
              </a:defRPr>
            </a:pPr>
            <a:r>
              <a:t>日本語サブタイトル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390" y="0"/>
            <a:ext cx="6095390" cy="68580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Heading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日本語見出し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Body text goes here. Keep it concise</a:t>
            </a:r>
            <a:br/>
            <a:r>
              <a:t>and let the photo do the talking.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本文テキスト。簡潔に。</a:t>
            </a:r>
            <a:br/>
            <a:r>
              <a:t>写真に語らせる。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B5B0A8"/>
                </a:solidFill>
                <a:latin typeface="Helvetica Neue"/>
              </a:defRPr>
            </a:pPr>
            <a:r>
              <a:t>PHOTO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8288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Heading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日本語見出し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3108960"/>
            <a:ext cx="54864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3474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Body text goes here. Keep it concise</a:t>
            </a:r>
            <a:br/>
            <a:r>
              <a:t>and let the photo do the talking.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2976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本文テキスト。簡潔に。</a:t>
            </a:r>
            <a:br/>
            <a:r>
              <a:t>写真に語らせる。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2C2C2C"/>
                </a:solidFill>
                <a:latin typeface="Helvetica Neue"/>
              </a:defRPr>
            </a:pPr>
            <a:r>
              <a:t>"Quote or key statement goes here.</a:t>
            </a:r>
            <a:br/>
            <a:r>
              <a:t>Keep it to one or two lines."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3566160"/>
            <a:ext cx="118872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B6560"/>
                </a:solidFill>
                <a:latin typeface="Helvetica Neue"/>
              </a:defRPr>
            </a:pPr>
            <a:r>
              <a:t>「引用文やキーステートメント。</a:t>
            </a:r>
            <a:br/>
            <a:r>
              <a:t>1〜2行に収める。」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— ATTRIBUTION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F5F0E8"/>
                </a:solidFill>
                <a:latin typeface="Helvetica Neue"/>
              </a:defRPr>
            </a:pPr>
            <a:r>
              <a:t>"Quote or key statement goes here.</a:t>
            </a:r>
            <a:br/>
            <a:r>
              <a:t>Keep it to one or two lines."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3566160"/>
            <a:ext cx="118872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5B0A8"/>
                </a:solidFill>
                <a:latin typeface="Helvetica Neue"/>
              </a:defRPr>
            </a:pPr>
            <a:r>
              <a:t>「引用文やキーステートメント。</a:t>
            </a:r>
            <a:br/>
            <a:r>
              <a:t>1〜2行に収める。」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B6560"/>
                </a:solidFill>
                <a:latin typeface="Helvetica Neue"/>
              </a:defRPr>
            </a:pPr>
            <a:r>
              <a:t>— ATTRIBUTION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Section Heading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セクション見出し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4754880" cy="41148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7744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B4C7E"/>
                </a:solidFill>
                <a:latin typeface="Helvetica Neue"/>
              </a:defRPr>
            </a:pPr>
            <a:r>
              <a:t>CARD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C2C2C"/>
                </a:solidFill>
                <a:latin typeface="Helvetica Neue"/>
              </a:defRPr>
            </a:pPr>
            <a:r>
              <a:t>Card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9184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Description text here.</a:t>
            </a:r>
            <a:br/>
            <a:r>
              <a:t>Keep it to 2-3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11480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説明テキスト。</a:t>
            </a:r>
            <a:br/>
            <a:r>
              <a:t>2〜3行に収める。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103120"/>
            <a:ext cx="4754880" cy="41148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B4C7E"/>
                </a:solidFill>
                <a:latin typeface="Helvetica Neue"/>
              </a:defRPr>
            </a:pPr>
            <a:r>
              <a:t>CARD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C2C2C"/>
                </a:solidFill>
                <a:latin typeface="Helvetica Neue"/>
              </a:defRPr>
            </a:pPr>
            <a:r>
              <a:t>Card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9184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560"/>
                </a:solidFill>
                <a:latin typeface="Helvetica Neue"/>
              </a:defRPr>
            </a:pPr>
            <a:r>
              <a:t>Description text here.</a:t>
            </a:r>
            <a:br/>
            <a:r>
              <a:t>Keep it to 2-3 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説明テキスト。</a:t>
            </a:r>
            <a:br/>
            <a:r>
              <a:t>2〜3行に収める。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2C2C2C"/>
                </a:solidFill>
                <a:latin typeface="Helvetica Neue"/>
              </a:defRPr>
            </a:pPr>
            <a:r>
              <a:t>Section Heading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セクション見出し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3108960" cy="41148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Card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Description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説明テキスト。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103120"/>
            <a:ext cx="3108960" cy="41148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37744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432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Card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20040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Description 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8404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説明テキスト。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103120"/>
            <a:ext cx="3108960" cy="41148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2C2C"/>
                </a:solidFill>
                <a:latin typeface="Helvetica Neue"/>
              </a:defRPr>
            </a:pPr>
            <a:r>
              <a:t>Card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0040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6560"/>
                </a:solidFill>
                <a:latin typeface="Helvetica Neue"/>
              </a:defRPr>
            </a:pPr>
            <a:r>
              <a:t>Description 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8404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説明テキスト。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0" b="0">
                <a:solidFill>
                  <a:srgbClr val="C8BFA9"/>
                </a:solidFill>
                <a:latin typeface="Helvetica Neue"/>
              </a:defRPr>
            </a:pPr>
            <a:r>
              <a:t>87%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2C2C2C"/>
                </a:solidFill>
                <a:latin typeface="Helvetica Neue"/>
              </a:defRPr>
            </a:pPr>
            <a:r>
              <a:t>Statement about the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B5B0A8"/>
                </a:solidFill>
                <a:latin typeface="Helvetica Neue"/>
              </a:defRPr>
            </a:pPr>
            <a:r>
              <a:t>数字についての説明文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418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5B0A8"/>
                </a:solidFill>
                <a:latin typeface="Helvetica Neue"/>
              </a:defRPr>
            </a:pPr>
            <a:r>
              <a:t>SOURCE: Attribution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